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f2dd21cfe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ef2dd21cfe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ef2dd21cfe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f182f73ea_1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ef182f73ea_1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ef182f73ea_1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0000"/>
          </a:solidFill>
          <a:ln cap="flat" cmpd="sng" w="12700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" name="Google Shape;13;p2"/>
          <p:cNvCxnSpPr/>
          <p:nvPr/>
        </p:nvCxnSpPr>
        <p:spPr>
          <a:xfrm>
            <a:off x="502920" y="642823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p2"/>
          <p:cNvSpPr/>
          <p:nvPr/>
        </p:nvSpPr>
        <p:spPr>
          <a:xfrm>
            <a:off x="566928" y="6483096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Red Hat External Monitor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11155680" y="6464808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155680" y="6464808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google.com/document/u/0/d/1WHQ_R32nCwJJXG29br5gbGlPE9aC-4DZApFlIGUwFnI/edit" TargetMode="External"/><Relationship Id="rId4" Type="http://schemas.openxmlformats.org/officeDocument/2006/relationships/hyperlink" Target="https://docs.google.com/document/u/0/d/1WHQ_R32nCwJJXG29br5gbGlPE9aC-4DZApFlIGUwFnI/ed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621792" y="105156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External Monitor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640080" y="166420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F7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4F7A"/>
                </a:solidFill>
                <a:latin typeface="Arial"/>
                <a:ea typeface="Arial"/>
                <a:cs typeface="Arial"/>
                <a:sym typeface="Arial"/>
              </a:rPr>
              <a:t>First PoC | JPMorgan Chase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640080" y="2057400"/>
            <a:ext cx="6217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900">
                <a:solidFill>
                  <a:srgbClr val="333333"/>
                </a:solidFill>
              </a:rPr>
              <a:t>P</a:t>
            </a:r>
            <a:r>
              <a:rPr b="0" i="0" lang="en-US" sz="1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ractical proof that external account noise can be turned into a concise, Red Hat-relevant seller view.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658368" y="2926080"/>
            <a:ext cx="1097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E0000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658368" y="3090672"/>
            <a:ext cx="52120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-3206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Char char="●"/>
            </a:pPr>
            <a:r>
              <a:rPr b="0" i="0" lang="en-US" sz="14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Prove seller value before building automation.</a:t>
            </a:r>
            <a:br>
              <a:rPr b="0" i="0" lang="en-US" sz="14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6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Char char="●"/>
            </a:pPr>
            <a:r>
              <a:rPr b="0" i="0" lang="en-US" sz="14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Show the end-state output for one enterprise customer.</a:t>
            </a:r>
            <a:br>
              <a:rPr b="0" i="0" lang="en-US" sz="14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6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Char char="●"/>
            </a:pPr>
            <a:r>
              <a:rPr b="0" i="0" lang="en-US" sz="14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Use the PoC as the blueprint for the product build.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7498080" y="1051560"/>
            <a:ext cx="3977640" cy="4434840"/>
          </a:xfrm>
          <a:prstGeom prst="rect">
            <a:avLst/>
          </a:prstGeom>
          <a:solidFill>
            <a:srgbClr val="F6F7F8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7726680" y="128016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E0000"/>
                </a:solidFill>
                <a:latin typeface="Arial"/>
                <a:ea typeface="Arial"/>
                <a:cs typeface="Arial"/>
                <a:sym typeface="Arial"/>
              </a:rPr>
              <a:t>POC DELIVERABLE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7726680" y="1645920"/>
            <a:ext cx="1143000" cy="868680"/>
          </a:xfrm>
          <a:prstGeom prst="rect">
            <a:avLst/>
          </a:prstGeom>
          <a:solidFill>
            <a:srgbClr val="F6F7F8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7781544" y="1810512"/>
            <a:ext cx="10332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F7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B4F7A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7781544" y="2194560"/>
            <a:ext cx="10332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reviewed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979408" y="1645920"/>
            <a:ext cx="1143000" cy="868680"/>
          </a:xfrm>
          <a:prstGeom prst="rect">
            <a:avLst/>
          </a:prstGeom>
          <a:solidFill>
            <a:srgbClr val="EDF7EE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9034272" y="1810512"/>
            <a:ext cx="10332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7D3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7D3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9034272" y="2194560"/>
            <a:ext cx="10332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kept + watch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0232136" y="1645920"/>
            <a:ext cx="1143000" cy="868680"/>
          </a:xfrm>
          <a:prstGeom prst="rect">
            <a:avLst/>
          </a:prstGeom>
          <a:solidFill>
            <a:srgbClr val="FFF7E8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0287000" y="1810512"/>
            <a:ext cx="10332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6B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A66B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0287000" y="2194560"/>
            <a:ext cx="10332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noise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726680" y="2761488"/>
            <a:ext cx="3657600" cy="868680"/>
          </a:xfrm>
          <a:prstGeom prst="rect">
            <a:avLst/>
          </a:prstGeom>
          <a:solidFill>
            <a:srgbClr val="F6F7F8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7781544" y="2926080"/>
            <a:ext cx="35478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F7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B4F7A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781544" y="3310128"/>
            <a:ext cx="3547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highest priority score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726680" y="3886200"/>
            <a:ext cx="3383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Seller-facing Account Pulse sheet</a:t>
            </a:r>
            <a:b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Supporting audit trail and scoring logic</a:t>
            </a:r>
            <a:b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Flow visual and design brief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 txBox="1"/>
          <p:nvPr>
            <p:ph idx="4294967295" type="sldNum"/>
          </p:nvPr>
        </p:nvSpPr>
        <p:spPr>
          <a:xfrm>
            <a:off x="11155680" y="6464808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621792" y="384048"/>
            <a:ext cx="7772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640073" y="758950"/>
            <a:ext cx="11778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50"/>
              <a:buFont typeface="Arial"/>
              <a:buNone/>
            </a:pPr>
            <a:r>
              <a:rPr lang="en-US" sz="1800">
                <a:solidFill>
                  <a:srgbClr val="666666"/>
                </a:solidFill>
              </a:rPr>
              <a:t>The Lack of Filtering, Prioritization, and Seller-Ready Interpretation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58368" y="1325880"/>
            <a:ext cx="3474720" cy="4480560"/>
          </a:xfrm>
          <a:prstGeom prst="rect">
            <a:avLst/>
          </a:prstGeom>
          <a:solidFill>
            <a:srgbClr val="F6F7F8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877824" y="1536192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E0000"/>
                </a:solidFill>
                <a:latin typeface="Arial"/>
                <a:ea typeface="Arial"/>
                <a:cs typeface="Arial"/>
                <a:sym typeface="Arial"/>
              </a:rPr>
              <a:t>WHAT EXISTS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868680" y="1783080"/>
            <a:ext cx="2926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Official company news</a:t>
            </a:r>
            <a:b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Investor and technology content</a:t>
            </a:r>
            <a:b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Independent reporting</a:t>
            </a:r>
            <a:b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Secondary commentary and duplicates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68705" y="4640578"/>
            <a:ext cx="2926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Sellers can access news</a:t>
            </a:r>
            <a:r>
              <a:rPr b="1" lang="en-US">
                <a:solidFill>
                  <a:srgbClr val="333333"/>
                </a:solidFill>
              </a:rPr>
              <a:t> but it</a:t>
            </a: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too noisy to use quickly.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407408" y="1325880"/>
            <a:ext cx="3474720" cy="4480560"/>
          </a:xfrm>
          <a:prstGeom prst="rect">
            <a:avLst/>
          </a:prstGeom>
          <a:solidFill>
            <a:srgbClr val="FFF3F2"/>
          </a:solidFill>
          <a:ln cap="flat" cmpd="sng" w="12700">
            <a:solidFill>
              <a:srgbClr val="F4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4626864" y="153619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E0000"/>
                </a:solidFill>
                <a:latin typeface="Arial"/>
                <a:ea typeface="Arial"/>
                <a:cs typeface="Arial"/>
                <a:sym typeface="Arial"/>
              </a:rPr>
              <a:t>WHY IT FAILS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617720" y="1783080"/>
            <a:ext cx="292608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Duplicate or stale items</a:t>
            </a:r>
            <a:b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Generic market commentary</a:t>
            </a:r>
            <a:b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Weak account relevance</a:t>
            </a:r>
            <a:b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 Red Hat lens</a:t>
            </a:r>
            <a:b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 clear next action</a:t>
            </a:r>
            <a:endParaRPr sz="1500">
              <a:solidFill>
                <a:srgbClr val="333333"/>
              </a:solidFill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7720" y="466344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Raw news still leaves the seller doing the work.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8156448" y="1325880"/>
            <a:ext cx="3383280" cy="4480560"/>
          </a:xfrm>
          <a:prstGeom prst="rect">
            <a:avLst/>
          </a:prstGeom>
          <a:solidFill>
            <a:srgbClr val="EDF7EE"/>
          </a:solidFill>
          <a:ln cap="flat" cmpd="sng" w="12700">
            <a:solidFill>
              <a:srgbClr val="D7E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8375904" y="153619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E0000"/>
                </a:solidFill>
                <a:latin typeface="Arial"/>
                <a:ea typeface="Arial"/>
                <a:cs typeface="Arial"/>
                <a:sym typeface="Arial"/>
              </a:rPr>
              <a:t>WHAT A SELLER NEEDS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8366760" y="1783080"/>
            <a:ext cx="27432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What changed?</a:t>
            </a:r>
            <a:b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Why does it matter?</a:t>
            </a:r>
            <a:b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What is the Red Hat angle?</a:t>
            </a:r>
            <a:b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What should we validate next?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8366760" y="466344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Goal: a 30-second account brief, not another news feed.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"/>
          <p:cNvSpPr txBox="1"/>
          <p:nvPr>
            <p:ph idx="4294967295" type="sldNum"/>
          </p:nvPr>
        </p:nvSpPr>
        <p:spPr>
          <a:xfrm>
            <a:off x="11155680" y="6464808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621792" y="384048"/>
            <a:ext cx="777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11111"/>
                </a:solidFill>
              </a:rPr>
              <a:t>End Outcome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 txBox="1"/>
          <p:nvPr>
            <p:ph idx="4294967295" type="sldNum"/>
          </p:nvPr>
        </p:nvSpPr>
        <p:spPr>
          <a:xfrm>
            <a:off x="11155680" y="6464808"/>
            <a:ext cx="457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6" title="mermaid-diagram-2026-06-24-1122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4192" y="152400"/>
            <a:ext cx="2051075" cy="65532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6"/>
          <p:cNvSpPr/>
          <p:nvPr/>
        </p:nvSpPr>
        <p:spPr>
          <a:xfrm>
            <a:off x="621800" y="1241900"/>
            <a:ext cx="50922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0">
              <a:solidFill>
                <a:srgbClr val="333333"/>
              </a:solidFill>
            </a:endParaRPr>
          </a:p>
          <a:p>
            <a:pPr indent="-3206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Char char="●"/>
            </a:pPr>
            <a:r>
              <a:rPr b="1" lang="en-US" sz="1450">
                <a:solidFill>
                  <a:srgbClr val="333333"/>
                </a:solidFill>
              </a:rPr>
              <a:t>Speed</a:t>
            </a:r>
            <a:r>
              <a:rPr lang="en-US" sz="1450">
                <a:solidFill>
                  <a:srgbClr val="333333"/>
                </a:solidFill>
              </a:rPr>
              <a:t>: Prioritizes a strict 30-second comprehension threshold.</a:t>
            </a:r>
            <a:endParaRPr sz="1450">
              <a:solidFill>
                <a:srgbClr val="333333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333333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333333"/>
              </a:solidFill>
            </a:endParaRPr>
          </a:p>
          <a:p>
            <a:pPr indent="-3206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Char char="●"/>
            </a:pPr>
            <a:r>
              <a:rPr b="1" lang="en-US" sz="1450">
                <a:solidFill>
                  <a:srgbClr val="333333"/>
                </a:solidFill>
              </a:rPr>
              <a:t>Layered Information</a:t>
            </a:r>
            <a:r>
              <a:rPr lang="en-US" sz="1450">
                <a:solidFill>
                  <a:srgbClr val="333333"/>
                </a:solidFill>
              </a:rPr>
              <a:t>: Delivers high-level summaries first, with source links and low-level details just one click away.</a:t>
            </a:r>
            <a:endParaRPr sz="1450">
              <a:solidFill>
                <a:srgbClr val="333333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33333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333333"/>
              </a:solidFill>
            </a:endParaRPr>
          </a:p>
          <a:p>
            <a:pPr indent="-3206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Char char="●"/>
            </a:pPr>
            <a:r>
              <a:rPr b="1" lang="en-US" sz="1450">
                <a:solidFill>
                  <a:srgbClr val="333333"/>
                </a:solidFill>
              </a:rPr>
              <a:t>Strategic Alignment</a:t>
            </a:r>
            <a:r>
              <a:rPr lang="en-US" sz="1450">
                <a:solidFill>
                  <a:srgbClr val="333333"/>
                </a:solidFill>
              </a:rPr>
              <a:t>: Filters external signals to explicitly highlight account materiality and immediate sales actionability.</a:t>
            </a:r>
            <a:endParaRPr sz="1450">
              <a:solidFill>
                <a:srgbClr val="333333"/>
              </a:solidFill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640080" y="758952"/>
            <a:ext cx="8961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50"/>
              <a:buFont typeface="Arial"/>
              <a:buNone/>
            </a:pPr>
            <a:r>
              <a:rPr lang="en-US" sz="1800">
                <a:solidFill>
                  <a:srgbClr val="666666"/>
                </a:solidFill>
              </a:rPr>
              <a:t>Looking at the Tool From an End-User Perspective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9947675" y="6224200"/>
            <a:ext cx="2244000" cy="24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/>
          <p:nvPr/>
        </p:nvSpPr>
        <p:spPr>
          <a:xfrm>
            <a:off x="621792" y="384048"/>
            <a:ext cx="7772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Proposed tool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640080" y="758952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50"/>
              <a:buFont typeface="Arial"/>
              <a:buNone/>
            </a:pPr>
            <a:r>
              <a:rPr lang="en-US" sz="1800">
                <a:solidFill>
                  <a:srgbClr val="666666"/>
                </a:solidFill>
              </a:rPr>
              <a:t>External Monitor Converts Public Account Activity Into Concise Account Pulse Outputs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658368" y="1874520"/>
            <a:ext cx="1874520" cy="14813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749808" y="1975104"/>
            <a:ext cx="310896" cy="310896"/>
          </a:xfrm>
          <a:prstGeom prst="rect">
            <a:avLst/>
          </a:prstGeom>
          <a:solidFill>
            <a:srgbClr val="0B4F7A"/>
          </a:solidFill>
          <a:ln cap="flat" cmpd="sng" w="12700">
            <a:solidFill>
              <a:srgbClr val="0B4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749871" y="2048192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1225181" y="2039042"/>
            <a:ext cx="1307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749808" y="2276856"/>
            <a:ext cx="1691640" cy="978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Review a bounded set of public sources for a named account.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2880360" y="1874520"/>
            <a:ext cx="1874520" cy="14813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2971800" y="1975104"/>
            <a:ext cx="310896" cy="310896"/>
          </a:xfrm>
          <a:prstGeom prst="rect">
            <a:avLst/>
          </a:prstGeom>
          <a:solidFill>
            <a:srgbClr val="0B4F7A"/>
          </a:solidFill>
          <a:ln cap="flat" cmpd="sng" w="12700">
            <a:solidFill>
              <a:srgbClr val="0B4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2971863" y="2048192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3447186" y="2039042"/>
            <a:ext cx="1307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Filter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2971800" y="2276856"/>
            <a:ext cx="1691640" cy="978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Remove duplicates, stale items, and generic commentary.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5102352" y="1874520"/>
            <a:ext cx="1874400" cy="1481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5193792" y="1975104"/>
            <a:ext cx="310800" cy="310800"/>
          </a:xfrm>
          <a:prstGeom prst="rect">
            <a:avLst/>
          </a:prstGeom>
          <a:solidFill>
            <a:srgbClr val="0B4F7A"/>
          </a:solidFill>
          <a:ln cap="flat" cmpd="sng" w="12700">
            <a:solidFill>
              <a:srgbClr val="0B4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5193855" y="2048192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5669153" y="2039042"/>
            <a:ext cx="1307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Apply RH lens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5193792" y="2276856"/>
            <a:ext cx="16917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Map surviving signals to bounded Red Hat conversation hypotheses.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7324344" y="1874520"/>
            <a:ext cx="1874400" cy="1481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7415784" y="1975104"/>
            <a:ext cx="310800" cy="310800"/>
          </a:xfrm>
          <a:prstGeom prst="rect">
            <a:avLst/>
          </a:prstGeom>
          <a:solidFill>
            <a:srgbClr val="0B4F7A"/>
          </a:solidFill>
          <a:ln cap="flat" cmpd="sng" w="12700">
            <a:solidFill>
              <a:srgbClr val="0B4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7415847" y="2048192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7891132" y="2039042"/>
            <a:ext cx="1307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Rank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7415784" y="2276856"/>
            <a:ext cx="16917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Score by materiality, RH relevance, actionability, evidence, and novelty.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9546336" y="1874520"/>
            <a:ext cx="1874400" cy="1481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9637776" y="1975104"/>
            <a:ext cx="310800" cy="310800"/>
          </a:xfrm>
          <a:prstGeom prst="rect">
            <a:avLst/>
          </a:prstGeom>
          <a:solidFill>
            <a:srgbClr val="0B4F7A"/>
          </a:solidFill>
          <a:ln cap="flat" cmpd="sng" w="12700">
            <a:solidFill>
              <a:srgbClr val="0B4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9637839" y="2048192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0113074" y="2039042"/>
            <a:ext cx="1307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Deliver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9637776" y="2276856"/>
            <a:ext cx="16917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Present the result in a seller-facing account view and digest.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7"/>
          <p:cNvCxnSpPr/>
          <p:nvPr/>
        </p:nvCxnSpPr>
        <p:spPr>
          <a:xfrm>
            <a:off x="2532888" y="2615184"/>
            <a:ext cx="237744" cy="0"/>
          </a:xfrm>
          <a:prstGeom prst="straightConnector1">
            <a:avLst/>
          </a:prstGeom>
          <a:noFill/>
          <a:ln cap="flat" cmpd="sng" w="15225">
            <a:solidFill>
              <a:srgbClr val="0B4F7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" name="Google Shape;107;p7"/>
          <p:cNvCxnSpPr/>
          <p:nvPr/>
        </p:nvCxnSpPr>
        <p:spPr>
          <a:xfrm>
            <a:off x="4754880" y="2615184"/>
            <a:ext cx="237600" cy="0"/>
          </a:xfrm>
          <a:prstGeom prst="straightConnector1">
            <a:avLst/>
          </a:prstGeom>
          <a:noFill/>
          <a:ln cap="flat" cmpd="sng" w="15225">
            <a:solidFill>
              <a:srgbClr val="0B4F7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" name="Google Shape;108;p7"/>
          <p:cNvCxnSpPr/>
          <p:nvPr/>
        </p:nvCxnSpPr>
        <p:spPr>
          <a:xfrm>
            <a:off x="6976872" y="2615184"/>
            <a:ext cx="237600" cy="0"/>
          </a:xfrm>
          <a:prstGeom prst="straightConnector1">
            <a:avLst/>
          </a:prstGeom>
          <a:noFill/>
          <a:ln cap="flat" cmpd="sng" w="15225">
            <a:solidFill>
              <a:srgbClr val="0B4F7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9" name="Google Shape;109;p7"/>
          <p:cNvCxnSpPr/>
          <p:nvPr/>
        </p:nvCxnSpPr>
        <p:spPr>
          <a:xfrm>
            <a:off x="9198864" y="2615184"/>
            <a:ext cx="237600" cy="0"/>
          </a:xfrm>
          <a:prstGeom prst="straightConnector1">
            <a:avLst/>
          </a:prstGeom>
          <a:noFill/>
          <a:ln cap="flat" cmpd="sng" w="15225">
            <a:solidFill>
              <a:srgbClr val="0B4F7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" name="Google Shape;110;p7"/>
          <p:cNvSpPr/>
          <p:nvPr/>
        </p:nvSpPr>
        <p:spPr>
          <a:xfrm>
            <a:off x="841248" y="4160520"/>
            <a:ext cx="10470000" cy="1143000"/>
          </a:xfrm>
          <a:prstGeom prst="rect">
            <a:avLst/>
          </a:prstGeom>
          <a:solidFill>
            <a:srgbClr val="F6F7F8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1051560" y="4370832"/>
            <a:ext cx="1280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E0000"/>
                </a:solidFill>
                <a:latin typeface="Arial"/>
                <a:ea typeface="Arial"/>
                <a:cs typeface="Arial"/>
                <a:sym typeface="Arial"/>
              </a:rPr>
              <a:t>KEY IDEA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051560" y="4590288"/>
            <a:ext cx="9875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This is not “find more news.” This is “surface the few signals a Red Hat account team should care about.”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 txBox="1"/>
          <p:nvPr>
            <p:ph idx="4294967295" type="sldNum"/>
          </p:nvPr>
        </p:nvSpPr>
        <p:spPr>
          <a:xfrm>
            <a:off x="11155680" y="6464808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/>
          <p:nvPr/>
        </p:nvSpPr>
        <p:spPr>
          <a:xfrm>
            <a:off x="621792" y="384048"/>
            <a:ext cx="7772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PoC design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640080" y="758952"/>
            <a:ext cx="8961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50"/>
              <a:buFont typeface="Arial"/>
              <a:buNone/>
            </a:pPr>
            <a:r>
              <a:rPr lang="en-US" sz="1800">
                <a:solidFill>
                  <a:srgbClr val="666666"/>
                </a:solidFill>
              </a:rPr>
              <a:t>Manual V1 to Pave the Way for Automated Versions to Come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658368" y="1417320"/>
            <a:ext cx="5166360" cy="4206240"/>
          </a:xfrm>
          <a:prstGeom prst="rect">
            <a:avLst/>
          </a:prstGeom>
          <a:solidFill>
            <a:srgbClr val="F6F7F8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896112" y="1645920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E0000"/>
                </a:solidFill>
                <a:latin typeface="Arial"/>
                <a:ea typeface="Arial"/>
                <a:cs typeface="Arial"/>
                <a:sym typeface="Arial"/>
              </a:rPr>
              <a:t>MANUAL NOW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896112" y="1892808"/>
            <a:ext cx="45720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-3187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0"/>
              <a:buFont typeface="Arial"/>
              <a:buChar char="●"/>
            </a:pPr>
            <a:r>
              <a:rPr b="0" i="0" lang="en-US" sz="14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Choose one enterprise account with a rich source universe.</a:t>
            </a:r>
            <a:br>
              <a:rPr b="0" i="0" lang="en-US" sz="14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7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0"/>
              <a:buFont typeface="Arial"/>
              <a:buChar char="●"/>
            </a:pPr>
            <a:r>
              <a:rPr b="0" i="0" lang="en-US" sz="14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Review bounded public sources.</a:t>
            </a:r>
            <a:br>
              <a:rPr b="0" i="0" lang="en-US" sz="14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7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0"/>
              <a:buFont typeface="Arial"/>
              <a:buChar char="●"/>
            </a:pPr>
            <a:r>
              <a:rPr b="0" i="0" lang="en-US" sz="14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Create a raw signal register.</a:t>
            </a:r>
            <a:br>
              <a:rPr b="0" i="0" lang="en-US" sz="14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7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0"/>
              <a:buFont typeface="Arial"/>
              <a:buChar char="●"/>
            </a:pPr>
            <a:r>
              <a:rPr b="0" i="0" lang="en-US" sz="14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Filter, dedupe, and score signals.</a:t>
            </a:r>
            <a:br>
              <a:rPr b="0" i="0" lang="en-US" sz="14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7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0"/>
              <a:buFont typeface="Arial"/>
              <a:buChar char="●"/>
            </a:pPr>
            <a:r>
              <a:rPr b="0" i="0" lang="en-US" sz="14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Apply a controlled Red Hat motion catalog.</a:t>
            </a:r>
            <a:br>
              <a:rPr b="0" i="0" lang="en-US" sz="14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7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0"/>
              <a:buFont typeface="Arial"/>
              <a:buChar char="●"/>
            </a:pPr>
            <a:r>
              <a:rPr b="0" i="0" lang="en-US" sz="14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Publish a seller-facing Account Pulse sheet.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6355080" y="1417320"/>
            <a:ext cx="5166360" cy="4206240"/>
          </a:xfrm>
          <a:prstGeom prst="rect">
            <a:avLst/>
          </a:prstGeom>
          <a:solidFill>
            <a:srgbClr val="FFF3F2"/>
          </a:solidFill>
          <a:ln cap="flat" cmpd="sng" w="12700">
            <a:solidFill>
              <a:srgbClr val="F4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6583680" y="1645920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E0000"/>
                </a:solidFill>
                <a:latin typeface="Arial"/>
                <a:ea typeface="Arial"/>
                <a:cs typeface="Arial"/>
                <a:sym typeface="Arial"/>
              </a:rPr>
              <a:t>CODE LATER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6583680" y="1892808"/>
            <a:ext cx="45720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-3187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0"/>
              <a:buFont typeface="Arial"/>
              <a:buChar char="●"/>
            </a:pPr>
            <a:r>
              <a:rPr b="0" i="0" lang="en-US" sz="14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Source connectors and scheduled refresh</a:t>
            </a:r>
            <a:endParaRPr b="0" i="0" sz="142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77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0"/>
              <a:buFont typeface="Arial"/>
              <a:buChar char="○"/>
            </a:pPr>
            <a:r>
              <a:rPr lang="en-US" sz="1420">
                <a:solidFill>
                  <a:srgbClr val="333333"/>
                </a:solidFill>
              </a:rPr>
              <a:t>RAG</a:t>
            </a:r>
            <a:endParaRPr sz="1420">
              <a:solidFill>
                <a:srgbClr val="333333"/>
              </a:solidFill>
            </a:endParaRPr>
          </a:p>
          <a:p>
            <a:pPr indent="-31877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0"/>
              <a:buChar char="○"/>
            </a:pPr>
            <a:r>
              <a:rPr lang="en-US" sz="1420">
                <a:solidFill>
                  <a:srgbClr val="333333"/>
                </a:solidFill>
              </a:rPr>
              <a:t>API / MCP</a:t>
            </a:r>
            <a:br>
              <a:rPr b="0" i="0" lang="en-US" sz="14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7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0"/>
              <a:buFont typeface="Arial"/>
              <a:buChar char="●"/>
            </a:pPr>
            <a:r>
              <a:rPr b="0" i="0" lang="en-US" sz="14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Entity matching and normalization</a:t>
            </a:r>
            <a:br>
              <a:rPr b="0" i="0" lang="en-US" sz="14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7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0"/>
              <a:buFont typeface="Arial"/>
              <a:buChar char="●"/>
            </a:pPr>
            <a:r>
              <a:rPr b="0" i="0" lang="en-US" sz="14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Automated deduplication and classification</a:t>
            </a:r>
            <a:br>
              <a:rPr b="0" i="0" lang="en-US" sz="14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7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0"/>
              <a:buFont typeface="Arial"/>
              <a:buChar char="●"/>
            </a:pPr>
            <a:r>
              <a:rPr b="0" i="0" lang="en-US" sz="14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Multi-account product UI</a:t>
            </a:r>
            <a:br>
              <a:rPr b="0" i="0" lang="en-US" sz="14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7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20"/>
              <a:buFont typeface="Arial"/>
              <a:buChar char="●"/>
            </a:pPr>
            <a:r>
              <a:rPr b="0" i="0" lang="en-US" sz="14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Digest delivery and feedback loop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896112" y="5870448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Why JPMorgan Chase? Rich public signal volume, a clear Red Hat lens, and enough noise to make filtering value obvious.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 txBox="1"/>
          <p:nvPr>
            <p:ph idx="4294967295" type="sldNum"/>
          </p:nvPr>
        </p:nvSpPr>
        <p:spPr>
          <a:xfrm>
            <a:off x="11155680" y="6464808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/>
          <p:nvPr/>
        </p:nvSpPr>
        <p:spPr>
          <a:xfrm>
            <a:off x="621792" y="384048"/>
            <a:ext cx="7772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11111"/>
                </a:solidFill>
              </a:rPr>
              <a:t>Workflow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9"/>
          <p:cNvSpPr txBox="1"/>
          <p:nvPr>
            <p:ph idx="4294967295" type="sldNum"/>
          </p:nvPr>
        </p:nvSpPr>
        <p:spPr>
          <a:xfrm>
            <a:off x="11155680" y="6464808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9" title="mermaid-diagram-2026-06-23-2314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99007"/>
            <a:ext cx="11886879" cy="1659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/>
          <p:nvPr/>
        </p:nvSpPr>
        <p:spPr>
          <a:xfrm>
            <a:off x="621792" y="384048"/>
            <a:ext cx="7772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JPMC PoC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640080" y="758952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50"/>
              <a:buFont typeface="Arial"/>
              <a:buNone/>
            </a:pPr>
            <a:r>
              <a:rPr lang="en-US" sz="1800">
                <a:solidFill>
                  <a:srgbClr val="666666"/>
                </a:solidFill>
              </a:rPr>
              <a:t>30-Sec Glance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749808" y="1508760"/>
            <a:ext cx="1371600" cy="868680"/>
          </a:xfrm>
          <a:prstGeom prst="rect">
            <a:avLst/>
          </a:prstGeom>
          <a:solidFill>
            <a:srgbClr val="F6F7F8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804672" y="1673352"/>
            <a:ext cx="12618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F7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B4F7A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804672" y="2057400"/>
            <a:ext cx="1261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signals reviewed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2286000" y="1508760"/>
            <a:ext cx="1371600" cy="868680"/>
          </a:xfrm>
          <a:prstGeom prst="rect">
            <a:avLst/>
          </a:prstGeom>
          <a:solidFill>
            <a:srgbClr val="EDF7EE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2340864" y="1673352"/>
            <a:ext cx="12618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7D3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7D3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2340864" y="2057400"/>
            <a:ext cx="1261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kept + watch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749808" y="2514600"/>
            <a:ext cx="1371600" cy="868680"/>
          </a:xfrm>
          <a:prstGeom prst="rect">
            <a:avLst/>
          </a:prstGeom>
          <a:solidFill>
            <a:srgbClr val="FFF7E8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804672" y="2679192"/>
            <a:ext cx="12618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6B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A66B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804672" y="3063240"/>
            <a:ext cx="1261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rejected noise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2286000" y="2514600"/>
            <a:ext cx="1371600" cy="868680"/>
          </a:xfrm>
          <a:prstGeom prst="rect">
            <a:avLst/>
          </a:prstGeom>
          <a:solidFill>
            <a:srgbClr val="F6F7F8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2340864" y="2679192"/>
            <a:ext cx="12618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F7A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B4F7A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2340864" y="3063240"/>
            <a:ext cx="1261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top score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749800" y="3611874"/>
            <a:ext cx="3018300" cy="2024700"/>
          </a:xfrm>
          <a:prstGeom prst="rect">
            <a:avLst/>
          </a:prstGeom>
          <a:solidFill>
            <a:srgbClr val="F6F7F8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960120" y="3840480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E0000"/>
                </a:solidFill>
                <a:latin typeface="Arial"/>
                <a:ea typeface="Arial"/>
                <a:cs typeface="Arial"/>
                <a:sym typeface="Arial"/>
              </a:rPr>
              <a:t>WHY JPMC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960120" y="4069080"/>
            <a:ext cx="2514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-31242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20"/>
              <a:buFont typeface="Arial"/>
              <a:buChar char="●"/>
            </a:pPr>
            <a:r>
              <a:rPr b="0" i="0" lang="en-US" sz="13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High public signal volume</a:t>
            </a:r>
            <a:br>
              <a:rPr b="0" i="0" lang="en-US" sz="13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42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20"/>
              <a:buFont typeface="Arial"/>
              <a:buChar char="●"/>
            </a:pPr>
            <a:r>
              <a:rPr b="0" i="0" lang="en-US" sz="13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Strong AI / governance / platform themes</a:t>
            </a:r>
            <a:br>
              <a:rPr b="0" i="0" lang="en-US" sz="13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42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20"/>
              <a:buFont typeface="Arial"/>
              <a:buChar char="●"/>
            </a:pPr>
            <a:r>
              <a:rPr b="0" i="0" lang="en-US" sz="132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Plenty of irrelevant noise to filter out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749795" y="5641855"/>
            <a:ext cx="251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Bounded hypotheses only — not an opportunity claim.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4114800" y="3621029"/>
            <a:ext cx="6766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Seller view: summary section from the Excel Account Pulse sheet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 txBox="1"/>
          <p:nvPr>
            <p:ph idx="4294967295" type="sldNum"/>
          </p:nvPr>
        </p:nvSpPr>
        <p:spPr>
          <a:xfrm>
            <a:off x="11155680" y="6464808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10"/>
          <p:cNvPicPr preferRelativeResize="0"/>
          <p:nvPr/>
        </p:nvPicPr>
        <p:blipFill rotWithShape="1">
          <a:blip r:embed="rId3">
            <a:alphaModFix/>
          </a:blip>
          <a:srcRect b="18434" l="0" r="0" t="0"/>
          <a:stretch/>
        </p:blipFill>
        <p:spPr>
          <a:xfrm>
            <a:off x="4114800" y="1898963"/>
            <a:ext cx="7772402" cy="1712925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/>
          <p:nvPr/>
        </p:nvSpPr>
        <p:spPr>
          <a:xfrm>
            <a:off x="621792" y="384048"/>
            <a:ext cx="777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Workbook views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640080" y="758952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50"/>
              <a:buFont typeface="Arial"/>
              <a:buNone/>
            </a:pPr>
            <a:r>
              <a:rPr lang="en-US" sz="1800">
                <a:solidFill>
                  <a:srgbClr val="666666"/>
                </a:solidFill>
              </a:rPr>
              <a:t>Top 3 Insights (</a:t>
            </a:r>
            <a:r>
              <a:rPr lang="en-US" sz="1800">
                <a:solidFill>
                  <a:srgbClr val="666666"/>
                </a:solidFill>
              </a:rPr>
              <a:t>W</a:t>
            </a:r>
            <a:r>
              <a:rPr lang="en-US" sz="1800">
                <a:solidFill>
                  <a:srgbClr val="666666"/>
                </a:solidFill>
              </a:rPr>
              <a:t>hat, </a:t>
            </a:r>
            <a:r>
              <a:rPr lang="en-US" sz="1800">
                <a:solidFill>
                  <a:srgbClr val="666666"/>
                </a:solidFill>
              </a:rPr>
              <a:t>W</a:t>
            </a:r>
            <a:r>
              <a:rPr lang="en-US" sz="1800">
                <a:solidFill>
                  <a:srgbClr val="666666"/>
                </a:solidFill>
              </a:rPr>
              <a:t>hy, and </a:t>
            </a:r>
            <a:r>
              <a:rPr lang="en-US" sz="1800">
                <a:solidFill>
                  <a:srgbClr val="666666"/>
                </a:solidFill>
              </a:rPr>
              <a:t>H</a:t>
            </a:r>
            <a:r>
              <a:rPr lang="en-US" sz="1800">
                <a:solidFill>
                  <a:srgbClr val="666666"/>
                </a:solidFill>
              </a:rPr>
              <a:t>ow)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152408" y="4969382"/>
            <a:ext cx="5074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30"/>
              <a:buFont typeface="Arial"/>
              <a:buNone/>
            </a:pPr>
            <a:r>
              <a:rPr b="0" i="1" lang="en-US" sz="113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Top signals are concise and paired with the next account-team move.</a:t>
            </a:r>
            <a:endParaRPr b="0" i="1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1"/>
          <p:cNvSpPr txBox="1"/>
          <p:nvPr>
            <p:ph idx="4294967295" type="sldNum"/>
          </p:nvPr>
        </p:nvSpPr>
        <p:spPr>
          <a:xfrm>
            <a:off x="11155680" y="6464808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9" y="1897704"/>
            <a:ext cx="11886877" cy="3062592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73" name="Google Shape;173;p11"/>
          <p:cNvCxnSpPr/>
          <p:nvPr/>
        </p:nvCxnSpPr>
        <p:spPr>
          <a:xfrm>
            <a:off x="7094775" y="2556925"/>
            <a:ext cx="0" cy="24033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11"/>
          <p:cNvCxnSpPr/>
          <p:nvPr/>
        </p:nvCxnSpPr>
        <p:spPr>
          <a:xfrm>
            <a:off x="9836375" y="2556925"/>
            <a:ext cx="0" cy="24033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1"/>
          <p:cNvCxnSpPr/>
          <p:nvPr/>
        </p:nvCxnSpPr>
        <p:spPr>
          <a:xfrm>
            <a:off x="3760050" y="2557000"/>
            <a:ext cx="0" cy="24033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/>
          <p:nvPr/>
        </p:nvSpPr>
        <p:spPr>
          <a:xfrm>
            <a:off x="621792" y="384048"/>
            <a:ext cx="777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Workbook views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640080" y="758952"/>
            <a:ext cx="8961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50"/>
              <a:buFont typeface="Arial"/>
              <a:buNone/>
            </a:pPr>
            <a:r>
              <a:rPr lang="en-US" sz="1800">
                <a:solidFill>
                  <a:srgbClr val="666666"/>
                </a:solidFill>
              </a:rPr>
              <a:t>Detailed Line-</a:t>
            </a:r>
            <a:r>
              <a:rPr lang="en-US" sz="1800">
                <a:solidFill>
                  <a:srgbClr val="666666"/>
                </a:solidFill>
              </a:rPr>
              <a:t>By</a:t>
            </a:r>
            <a:r>
              <a:rPr lang="en-US" sz="1800">
                <a:solidFill>
                  <a:srgbClr val="666666"/>
                </a:solidFill>
              </a:rPr>
              <a:t>-</a:t>
            </a:r>
            <a:r>
              <a:rPr lang="en-US" sz="1800">
                <a:solidFill>
                  <a:srgbClr val="666666"/>
                </a:solidFill>
              </a:rPr>
              <a:t>Line</a:t>
            </a:r>
            <a:r>
              <a:rPr lang="en-US" sz="1800">
                <a:solidFill>
                  <a:srgbClr val="666666"/>
                </a:solidFill>
              </a:rPr>
              <a:t> View of Pulled Events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1542697" y="5711973"/>
            <a:ext cx="5166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666666"/>
                </a:solidFill>
              </a:rPr>
              <a:t>The s</a:t>
            </a:r>
            <a:r>
              <a:rPr b="0" i="0" lang="en-US" sz="113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heet retains disposition, score inputs, and the full audit trail behind the seller view.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2"/>
          <p:cNvSpPr txBox="1"/>
          <p:nvPr>
            <p:ph idx="4294967295" type="sldNum"/>
          </p:nvPr>
        </p:nvSpPr>
        <p:spPr>
          <a:xfrm>
            <a:off x="11155680" y="6464808"/>
            <a:ext cx="457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2700" y="1146037"/>
            <a:ext cx="9106275" cy="456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/>
          <p:nvPr/>
        </p:nvSpPr>
        <p:spPr>
          <a:xfrm>
            <a:off x="621792" y="384048"/>
            <a:ext cx="7772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What’s next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640080" y="758952"/>
            <a:ext cx="8961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50"/>
              <a:buFont typeface="Arial"/>
              <a:buNone/>
            </a:pPr>
            <a:r>
              <a:rPr lang="en-US" sz="1800">
                <a:solidFill>
                  <a:srgbClr val="666666"/>
                </a:solidFill>
              </a:rPr>
              <a:t>Using the PoC as</a:t>
            </a:r>
            <a:r>
              <a:rPr lang="en-US" sz="1800">
                <a:solidFill>
                  <a:srgbClr val="666666"/>
                </a:solidFill>
              </a:rPr>
              <a:t> a Small, Usable Product Slice.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713232" y="1737360"/>
            <a:ext cx="2240280" cy="3337560"/>
          </a:xfrm>
          <a:prstGeom prst="rect">
            <a:avLst/>
          </a:prstGeom>
          <a:solidFill>
            <a:srgbClr val="F6F7F8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3"/>
          <p:cNvSpPr/>
          <p:nvPr/>
        </p:nvSpPr>
        <p:spPr>
          <a:xfrm>
            <a:off x="850392" y="1874520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1. Validate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850392" y="2212848"/>
            <a:ext cx="1938528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Review the </a:t>
            </a:r>
            <a:r>
              <a:rPr b="0" i="0" lang="en-US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JPMC PoC</a:t>
            </a:r>
            <a:r>
              <a:rPr b="0" i="0" lang="en-US" sz="1200" cap="none" strike="noStrike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/>
              </a:rPr>
              <a:t> </a:t>
            </a: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wit</a:t>
            </a: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 </a:t>
            </a:r>
            <a:r>
              <a:rPr lang="en-US" sz="1200">
                <a:solidFill>
                  <a:srgbClr val="333333"/>
                </a:solidFill>
              </a:rPr>
              <a:t>the team</a:t>
            </a: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Capture: useful, trusted, actionable, missing.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3547872" y="1737360"/>
            <a:ext cx="2240280" cy="3337560"/>
          </a:xfrm>
          <a:prstGeom prst="rect">
            <a:avLst/>
          </a:prstGeom>
          <a:solidFill>
            <a:srgbClr val="F6F7F8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"/>
          <p:cNvSpPr/>
          <p:nvPr/>
        </p:nvSpPr>
        <p:spPr>
          <a:xfrm>
            <a:off x="3685032" y="1874520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2. Product shell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3685032" y="2212848"/>
            <a:ext cx="1938528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Create a simple multi-account view with sample data and clean navigation.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6382512" y="1737360"/>
            <a:ext cx="2240280" cy="3337560"/>
          </a:xfrm>
          <a:prstGeom prst="rect">
            <a:avLst/>
          </a:prstGeom>
          <a:solidFill>
            <a:srgbClr val="F6F7F8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6519672" y="1874520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 Signal pipeline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6519672" y="2212848"/>
            <a:ext cx="1938528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Automate retrieval, normalization, deduplication, RH motion mapping, and ranking.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9217152" y="1737360"/>
            <a:ext cx="2240280" cy="3337560"/>
          </a:xfrm>
          <a:prstGeom prst="rect">
            <a:avLst/>
          </a:prstGeom>
          <a:solidFill>
            <a:srgbClr val="F6F7F8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"/>
          <p:cNvSpPr/>
          <p:nvPr/>
        </p:nvSpPr>
        <p:spPr>
          <a:xfrm>
            <a:off x="9354312" y="1874520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4. Seller workflow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9354312" y="2212848"/>
            <a:ext cx="1938528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Generate a digest / account brief and add a lightweight feedback loop.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1298448" y="5486400"/>
            <a:ext cx="9555480" cy="502920"/>
          </a:xfrm>
          <a:prstGeom prst="rect">
            <a:avLst/>
          </a:prstGeom>
          <a:solidFill>
            <a:srgbClr val="EAF3FA"/>
          </a:solidFill>
          <a:ln cap="flat" cmpd="sng" w="12700">
            <a:solidFill>
              <a:srgbClr val="DA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1417320" y="5632704"/>
            <a:ext cx="9281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F7A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0B4F7A"/>
                </a:solidFill>
                <a:latin typeface="Arial"/>
                <a:ea typeface="Arial"/>
                <a:cs typeface="Arial"/>
                <a:sym typeface="Arial"/>
              </a:rPr>
              <a:t>Manager ask: approve the direction, then use this PoC as the blueprint for the first product build.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3"/>
          <p:cNvSpPr txBox="1"/>
          <p:nvPr>
            <p:ph idx="4294967295" type="sldNum"/>
          </p:nvPr>
        </p:nvSpPr>
        <p:spPr>
          <a:xfrm>
            <a:off x="11155680" y="6464808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